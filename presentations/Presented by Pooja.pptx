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lexandria Bold" panose="020B0604020202020204" charset="-78"/>
      <p:regular r:id="rId14"/>
    </p:embeddedFont>
    <p:embeddedFont>
      <p:font typeface="Canva Sans Bold" panose="020B0604020202020204" charset="0"/>
      <p:regular r:id="rId15"/>
    </p:embeddedFont>
    <p:embeddedFont>
      <p:font typeface="Garet" panose="020B0604020202020204" charset="0"/>
      <p:regular r:id="rId16"/>
    </p:embeddedFont>
    <p:embeddedFont>
      <p:font typeface="Garet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-6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8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PEM-Instruct/final-project-pooja-malakappa-nuchchi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668325" y="1851536"/>
            <a:ext cx="12951349" cy="3051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9"/>
              </a:lnSpc>
            </a:pPr>
            <a:r>
              <a:rPr lang="en-US" sz="5006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CORPORATE CREDIT CARD MISUSE DETECTION USING MACHINE LEARNING AND ETL PIPELINE</a:t>
            </a:r>
          </a:p>
          <a:p>
            <a:pPr algn="ctr">
              <a:lnSpc>
                <a:spcPts val="3089"/>
              </a:lnSpc>
            </a:pPr>
            <a:r>
              <a:rPr lang="en-US" sz="2206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CS6140 — FINAL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56669" y="7101443"/>
            <a:ext cx="6175057" cy="994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  <a:spcBef>
                <a:spcPct val="0"/>
              </a:spcBef>
            </a:pPr>
            <a:r>
              <a:rPr lang="en-US" sz="2843" b="1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Name: Pooja Malakappa Nuchchi</a:t>
            </a:r>
          </a:p>
          <a:p>
            <a:pPr algn="l">
              <a:lnSpc>
                <a:spcPts val="3981"/>
              </a:lnSpc>
              <a:spcBef>
                <a:spcPct val="0"/>
              </a:spcBef>
            </a:pPr>
            <a:r>
              <a:rPr lang="en-US" sz="2843" b="1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Date: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37957" y="4082167"/>
            <a:ext cx="15821343" cy="2307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5% of revenue lost to fraud annually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284,807 transactions — only 0.17% are fraud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Manual review? Not scalable.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Arrow pointing to: Solution: ML-powered automated detection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4541415" y="1733850"/>
            <a:ext cx="9205169" cy="861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08"/>
              </a:lnSpc>
            </a:pPr>
            <a:r>
              <a:rPr lang="en-US" sz="50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WHY THIS MATTERS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51337" y="2874333"/>
            <a:ext cx="9816115" cy="4221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3812" lvl="1" indent="-321906" algn="l">
              <a:lnSpc>
                <a:spcPts val="4174"/>
              </a:lnSpc>
              <a:buFont typeface="Arial"/>
              <a:buChar char="•"/>
            </a:pPr>
            <a:r>
              <a:rPr lang="en-US" sz="298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Dataset: Credit Card Fraud Detection (ULB, Kaggle)</a:t>
            </a:r>
          </a:p>
          <a:p>
            <a:pPr marL="643812" lvl="1" indent="-321906" algn="l">
              <a:lnSpc>
                <a:spcPts val="4174"/>
              </a:lnSpc>
              <a:buFont typeface="Arial"/>
              <a:buChar char="•"/>
            </a:pPr>
            <a:r>
              <a:rPr lang="en-US" sz="298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284,807 transactions</a:t>
            </a:r>
          </a:p>
          <a:p>
            <a:pPr marL="643812" lvl="1" indent="-321906" algn="l">
              <a:lnSpc>
                <a:spcPts val="4174"/>
              </a:lnSpc>
              <a:buFont typeface="Arial"/>
              <a:buChar char="•"/>
            </a:pPr>
            <a:r>
              <a:rPr lang="en-US" sz="298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30 features: V1–V28 (PCA), Amount_Scaled, Hour</a:t>
            </a:r>
          </a:p>
          <a:p>
            <a:pPr marL="643812" lvl="1" indent="-321906" algn="l">
              <a:lnSpc>
                <a:spcPts val="4174"/>
              </a:lnSpc>
              <a:buFont typeface="Arial"/>
              <a:buChar char="•"/>
            </a:pPr>
            <a:r>
              <a:rPr lang="en-US" sz="298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Class imbalance visual: big blue bar (99.83% legit) vs tiny red bar (0.17% fraud)</a:t>
            </a:r>
          </a:p>
          <a:p>
            <a:pPr marL="643812" lvl="1" indent="-321906" algn="l">
              <a:lnSpc>
                <a:spcPts val="4174"/>
              </a:lnSpc>
              <a:buFont typeface="Arial"/>
              <a:buChar char="•"/>
            </a:pPr>
            <a:r>
              <a:rPr lang="en-US" sz="298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SMOTE applied to balance training data</a:t>
            </a:r>
          </a:p>
        </p:txBody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 rot="-1857627">
            <a:off x="92531" y="4566602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567583" y="3021823"/>
            <a:ext cx="7194326" cy="3983858"/>
          </a:xfrm>
          <a:custGeom>
            <a:avLst/>
            <a:gdLst/>
            <a:ahLst/>
            <a:cxnLst/>
            <a:rect l="l" t="t" r="r" b="b"/>
            <a:pathLst>
              <a:path w="7194326" h="3983858">
                <a:moveTo>
                  <a:pt x="0" y="0"/>
                </a:moveTo>
                <a:lnTo>
                  <a:pt x="7194327" y="0"/>
                </a:lnTo>
                <a:lnTo>
                  <a:pt x="7194327" y="3983858"/>
                </a:lnTo>
                <a:lnTo>
                  <a:pt x="0" y="3983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541415" y="116042"/>
            <a:ext cx="10219676" cy="1020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14"/>
              </a:lnSpc>
            </a:pPr>
            <a:r>
              <a:rPr lang="en-US" sz="593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ABOUT THE DATA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780722" y="1635957"/>
            <a:ext cx="11309421" cy="6743242"/>
          </a:xfrm>
          <a:custGeom>
            <a:avLst/>
            <a:gdLst/>
            <a:ahLst/>
            <a:cxnLst/>
            <a:rect l="l" t="t" r="r" b="b"/>
            <a:pathLst>
              <a:path w="11309421" h="6743242">
                <a:moveTo>
                  <a:pt x="0" y="0"/>
                </a:moveTo>
                <a:lnTo>
                  <a:pt x="11309421" y="0"/>
                </a:lnTo>
                <a:lnTo>
                  <a:pt x="11309421" y="6743242"/>
                </a:lnTo>
                <a:lnTo>
                  <a:pt x="0" y="67432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00641" y="384365"/>
            <a:ext cx="8013100" cy="876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61"/>
              </a:lnSpc>
              <a:spcBef>
                <a:spcPct val="0"/>
              </a:spcBef>
            </a:pPr>
            <a:r>
              <a:rPr lang="en-US" sz="5043" b="1" dirty="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End-to-End Pipeline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67625" y="3811908"/>
            <a:ext cx="5507236" cy="2656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7"/>
              </a:lnSpc>
              <a:spcBef>
                <a:spcPct val="0"/>
              </a:spcBef>
            </a:pPr>
            <a:r>
              <a:rPr lang="en-US" sz="1883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Components to list:</a:t>
            </a:r>
            <a:br>
              <a:rPr lang="en-US" sz="1883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</a:br>
            <a:endParaRPr lang="en-US" sz="1883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06665" lvl="1" indent="-203332" algn="l">
              <a:lnSpc>
                <a:spcPts val="2637"/>
              </a:lnSpc>
              <a:spcBef>
                <a:spcPct val="0"/>
              </a:spcBef>
              <a:buFont typeface="Arial"/>
              <a:buChar char="•"/>
            </a:pPr>
            <a:r>
              <a:rPr lang="en-US" sz="1883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ETL Pipeline: Python scripts → PostgreSQL</a:t>
            </a:r>
          </a:p>
          <a:p>
            <a:pPr marL="406665" lvl="1" indent="-203332" algn="l">
              <a:lnSpc>
                <a:spcPts val="2637"/>
              </a:lnSpc>
              <a:spcBef>
                <a:spcPct val="0"/>
              </a:spcBef>
              <a:buFont typeface="Arial"/>
              <a:buChar char="•"/>
            </a:pPr>
            <a:r>
              <a:rPr lang="en-US" sz="1883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ML Training: 5 models with SMOTE</a:t>
            </a:r>
          </a:p>
          <a:p>
            <a:pPr marL="406665" lvl="1" indent="-203332" algn="l">
              <a:lnSpc>
                <a:spcPts val="2637"/>
              </a:lnSpc>
              <a:spcBef>
                <a:spcPct val="0"/>
              </a:spcBef>
              <a:buFont typeface="Arial"/>
              <a:buChar char="•"/>
            </a:pPr>
            <a:r>
              <a:rPr lang="en-US" sz="1883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Backend: </a:t>
            </a:r>
            <a:r>
              <a:rPr lang="en-US" sz="1883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FastAPI</a:t>
            </a:r>
            <a:r>
              <a:rPr lang="en-US" sz="1883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with 7 endpoints</a:t>
            </a:r>
          </a:p>
          <a:p>
            <a:pPr marL="406665" lvl="1" indent="-203332" algn="l">
              <a:lnSpc>
                <a:spcPts val="2637"/>
              </a:lnSpc>
              <a:spcBef>
                <a:spcPct val="0"/>
              </a:spcBef>
              <a:buFont typeface="Arial"/>
              <a:buChar char="•"/>
            </a:pPr>
            <a:r>
              <a:rPr lang="en-US" sz="1883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Frontend: React dashboard with 4 pages</a:t>
            </a:r>
          </a:p>
          <a:p>
            <a:pPr algn="l">
              <a:lnSpc>
                <a:spcPts val="2637"/>
              </a:lnSpc>
              <a:spcBef>
                <a:spcPct val="0"/>
              </a:spcBef>
            </a:pPr>
            <a:endParaRPr lang="en-US" sz="1883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028700" y="3997291"/>
            <a:ext cx="16815401" cy="2900657"/>
          </a:xfrm>
          <a:custGeom>
            <a:avLst/>
            <a:gdLst/>
            <a:ahLst/>
            <a:cxnLst/>
            <a:rect l="l" t="t" r="r" b="b"/>
            <a:pathLst>
              <a:path w="16815401" h="2900657">
                <a:moveTo>
                  <a:pt x="0" y="0"/>
                </a:moveTo>
                <a:lnTo>
                  <a:pt x="16815401" y="0"/>
                </a:lnTo>
                <a:lnTo>
                  <a:pt x="16815401" y="2900657"/>
                </a:lnTo>
                <a:lnTo>
                  <a:pt x="0" y="29006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64639" y="232495"/>
            <a:ext cx="6758722" cy="114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86"/>
              </a:lnSpc>
            </a:pPr>
            <a:r>
              <a:rPr lang="en-US" sz="6704" b="1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Selection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4914502" y="477801"/>
            <a:ext cx="9170769" cy="987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46"/>
              </a:lnSpc>
            </a:pPr>
            <a:r>
              <a:rPr lang="en-US" sz="574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RESULTS &amp;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3506" y="8293940"/>
            <a:ext cx="17060987" cy="5304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3037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Key insight: Random Forest wins best precision (0.86), F1 (0.84), and AUC (0.9845)</a:t>
            </a:r>
          </a:p>
        </p:txBody>
      </p:sp>
      <p:sp>
        <p:nvSpPr>
          <p:cNvPr id="8" name="Freeform 8"/>
          <p:cNvSpPr/>
          <p:nvPr/>
        </p:nvSpPr>
        <p:spPr>
          <a:xfrm>
            <a:off x="5541901" y="1635957"/>
            <a:ext cx="7915970" cy="6477800"/>
          </a:xfrm>
          <a:custGeom>
            <a:avLst/>
            <a:gdLst/>
            <a:ahLst/>
            <a:cxnLst/>
            <a:rect l="l" t="t" r="r" b="b"/>
            <a:pathLst>
              <a:path w="7915970" h="6477800">
                <a:moveTo>
                  <a:pt x="0" y="0"/>
                </a:moveTo>
                <a:lnTo>
                  <a:pt x="7915971" y="0"/>
                </a:lnTo>
                <a:lnTo>
                  <a:pt x="7915971" y="6477799"/>
                </a:lnTo>
                <a:lnTo>
                  <a:pt x="0" y="64777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654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4291120" y="1028700"/>
            <a:ext cx="9705759" cy="7628920"/>
          </a:xfrm>
          <a:custGeom>
            <a:avLst/>
            <a:gdLst/>
            <a:ahLst/>
            <a:cxnLst/>
            <a:rect l="l" t="t" r="r" b="b"/>
            <a:pathLst>
              <a:path w="9705759" h="7628920">
                <a:moveTo>
                  <a:pt x="0" y="0"/>
                </a:moveTo>
                <a:lnTo>
                  <a:pt x="9705760" y="0"/>
                </a:lnTo>
                <a:lnTo>
                  <a:pt x="9705760" y="7628920"/>
                </a:lnTo>
                <a:lnTo>
                  <a:pt x="0" y="76289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26119" y="141618"/>
            <a:ext cx="7561242" cy="887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 b="1" dirty="0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 Screenshots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45489" y="8801101"/>
            <a:ext cx="3355911" cy="679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6"/>
              </a:lnSpc>
              <a:spcBef>
                <a:spcPct val="0"/>
              </a:spcBef>
            </a:pPr>
            <a:r>
              <a:rPr lang="en-US" sz="3904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127570" y="208515"/>
            <a:ext cx="9526664" cy="8450430"/>
          </a:xfrm>
          <a:custGeom>
            <a:avLst/>
            <a:gdLst/>
            <a:ahLst/>
            <a:cxnLst/>
            <a:rect l="l" t="t" r="r" b="b"/>
            <a:pathLst>
              <a:path w="9526664" h="8450430">
                <a:moveTo>
                  <a:pt x="0" y="0"/>
                </a:moveTo>
                <a:lnTo>
                  <a:pt x="9526664" y="0"/>
                </a:lnTo>
                <a:lnTo>
                  <a:pt x="9526664" y="8450430"/>
                </a:lnTo>
                <a:lnTo>
                  <a:pt x="0" y="84504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33447" y="8722110"/>
            <a:ext cx="3714912" cy="607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Transactions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34993" y="1028700"/>
            <a:ext cx="7094848" cy="6925210"/>
          </a:xfrm>
          <a:custGeom>
            <a:avLst/>
            <a:gdLst/>
            <a:ahLst/>
            <a:cxnLst/>
            <a:rect l="l" t="t" r="r" b="b"/>
            <a:pathLst>
              <a:path w="7094848" h="6925210">
                <a:moveTo>
                  <a:pt x="0" y="0"/>
                </a:moveTo>
                <a:lnTo>
                  <a:pt x="7094849" y="0"/>
                </a:lnTo>
                <a:lnTo>
                  <a:pt x="7094849" y="6925210"/>
                </a:lnTo>
                <a:lnTo>
                  <a:pt x="0" y="69252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013530" y="1028700"/>
            <a:ext cx="7291926" cy="7011867"/>
          </a:xfrm>
          <a:custGeom>
            <a:avLst/>
            <a:gdLst/>
            <a:ahLst/>
            <a:cxnLst/>
            <a:rect l="l" t="t" r="r" b="b"/>
            <a:pathLst>
              <a:path w="7291926" h="7011867">
                <a:moveTo>
                  <a:pt x="0" y="0"/>
                </a:moveTo>
                <a:lnTo>
                  <a:pt x="7291926" y="0"/>
                </a:lnTo>
                <a:lnTo>
                  <a:pt x="7291926" y="7011867"/>
                </a:lnTo>
                <a:lnTo>
                  <a:pt x="0" y="7011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03974" y="8044376"/>
            <a:ext cx="6432765" cy="704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5"/>
              </a:lnSpc>
              <a:spcBef>
                <a:spcPct val="0"/>
              </a:spcBef>
            </a:pPr>
            <a:r>
              <a:rPr lang="en-US" sz="4089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Predict-legitimate case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68161" y="8053901"/>
            <a:ext cx="5154692" cy="687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61"/>
              </a:lnSpc>
              <a:spcBef>
                <a:spcPct val="0"/>
              </a:spcBef>
            </a:pPr>
            <a:r>
              <a:rPr lang="en-US" sz="40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Predict- fraud case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119" y="2481136"/>
            <a:ext cx="8590766" cy="5080824"/>
          </a:xfrm>
          <a:custGeom>
            <a:avLst/>
            <a:gdLst/>
            <a:ahLst/>
            <a:cxnLst/>
            <a:rect l="l" t="t" r="r" b="b"/>
            <a:pathLst>
              <a:path w="8590766" h="5080824">
                <a:moveTo>
                  <a:pt x="0" y="0"/>
                </a:moveTo>
                <a:lnTo>
                  <a:pt x="8590766" y="0"/>
                </a:lnTo>
                <a:lnTo>
                  <a:pt x="8590766" y="5080825"/>
                </a:lnTo>
                <a:lnTo>
                  <a:pt x="0" y="5080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62344" y="2450056"/>
            <a:ext cx="8854632" cy="5010859"/>
          </a:xfrm>
          <a:custGeom>
            <a:avLst/>
            <a:gdLst/>
            <a:ahLst/>
            <a:cxnLst/>
            <a:rect l="l" t="t" r="r" b="b"/>
            <a:pathLst>
              <a:path w="8854632" h="5010859">
                <a:moveTo>
                  <a:pt x="0" y="0"/>
                </a:moveTo>
                <a:lnTo>
                  <a:pt x="8854632" y="0"/>
                </a:lnTo>
                <a:lnTo>
                  <a:pt x="8854632" y="5010859"/>
                </a:lnTo>
                <a:lnTo>
                  <a:pt x="0" y="5010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-570162" y="-1577413"/>
            <a:ext cx="4003692" cy="5590061"/>
          </a:xfrm>
          <a:custGeom>
            <a:avLst/>
            <a:gdLst/>
            <a:ahLst/>
            <a:cxnLst/>
            <a:rect l="l" t="t" r="r" b="b"/>
            <a:pathLst>
              <a:path w="4003692" h="5590061">
                <a:moveTo>
                  <a:pt x="0" y="0"/>
                </a:moveTo>
                <a:lnTo>
                  <a:pt x="4003692" y="0"/>
                </a:lnTo>
                <a:lnTo>
                  <a:pt x="4003692" y="5590061"/>
                </a:lnTo>
                <a:lnTo>
                  <a:pt x="0" y="5590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74333">
            <a:off x="517984" y="7316194"/>
            <a:ext cx="3590877" cy="5013677"/>
          </a:xfrm>
          <a:custGeom>
            <a:avLst/>
            <a:gdLst/>
            <a:ahLst/>
            <a:cxnLst/>
            <a:rect l="l" t="t" r="r" b="b"/>
            <a:pathLst>
              <a:path w="3590877" h="5013677">
                <a:moveTo>
                  <a:pt x="0" y="0"/>
                </a:moveTo>
                <a:lnTo>
                  <a:pt x="3590877" y="0"/>
                </a:lnTo>
                <a:lnTo>
                  <a:pt x="3590877" y="5013677"/>
                </a:lnTo>
                <a:lnTo>
                  <a:pt x="0" y="50136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6771" y="7762732"/>
            <a:ext cx="4411147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Model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97435" y="206220"/>
            <a:ext cx="8460462" cy="895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41"/>
              </a:lnSpc>
              <a:spcBef>
                <a:spcPct val="0"/>
              </a:spcBef>
            </a:pPr>
            <a:r>
              <a:rPr lang="en-US" sz="52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Limitations &amp; Next Steps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48798" y="2445602"/>
            <a:ext cx="16960943" cy="594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48"/>
              </a:lnSpc>
              <a:spcBef>
                <a:spcPct val="0"/>
              </a:spcBef>
            </a:pPr>
            <a:r>
              <a:rPr lang="en-US" sz="332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Limitations:</a:t>
            </a:r>
          </a:p>
          <a:p>
            <a:pPr marL="716942" lvl="1" indent="-358471" algn="just">
              <a:lnSpc>
                <a:spcPts val="4648"/>
              </a:lnSpc>
              <a:spcBef>
                <a:spcPct val="0"/>
              </a:spcBef>
              <a:buFont typeface="Arial"/>
              <a:buChar char="•"/>
            </a:pPr>
            <a:r>
              <a:rPr lang="en-US" sz="332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Dataset uses anonymized PCA features — can't interpret what V1–V28 represent</a:t>
            </a:r>
          </a:p>
          <a:p>
            <a:pPr marL="716942" lvl="1" indent="-358471" algn="just">
              <a:lnSpc>
                <a:spcPts val="4648"/>
              </a:lnSpc>
              <a:spcBef>
                <a:spcPct val="0"/>
              </a:spcBef>
              <a:buFont typeface="Arial"/>
              <a:buChar char="•"/>
            </a:pPr>
            <a:r>
              <a:rPr lang="en-US" sz="332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Amount and Hour alone can't detect fraud — V features carry the signal</a:t>
            </a:r>
          </a:p>
          <a:p>
            <a:pPr marL="716942" lvl="1" indent="-358471" algn="just">
              <a:lnSpc>
                <a:spcPts val="4648"/>
              </a:lnSpc>
              <a:spcBef>
                <a:spcPct val="0"/>
              </a:spcBef>
              <a:buFont typeface="Arial"/>
              <a:buChar char="•"/>
            </a:pPr>
            <a:r>
              <a:rPr lang="en-US" sz="332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No real-time streaming </a:t>
            </a:r>
          </a:p>
          <a:p>
            <a:pPr algn="just">
              <a:lnSpc>
                <a:spcPts val="4648"/>
              </a:lnSpc>
              <a:spcBef>
                <a:spcPct val="0"/>
              </a:spcBef>
            </a:pPr>
            <a:endParaRPr lang="en-US" sz="3320" b="1">
              <a:solidFill>
                <a:srgbClr val="545454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just">
              <a:lnSpc>
                <a:spcPts val="4648"/>
              </a:lnSpc>
              <a:spcBef>
                <a:spcPct val="0"/>
              </a:spcBef>
            </a:pPr>
            <a:r>
              <a:rPr lang="en-US" sz="332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Future work:</a:t>
            </a:r>
          </a:p>
          <a:p>
            <a:pPr marL="716942" lvl="1" indent="-358471" algn="just">
              <a:lnSpc>
                <a:spcPts val="4648"/>
              </a:lnSpc>
              <a:spcBef>
                <a:spcPct val="0"/>
              </a:spcBef>
              <a:buFont typeface="Arial"/>
              <a:buChar char="•"/>
            </a:pPr>
            <a:r>
              <a:rPr lang="en-US" sz="332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Real-time streaming with Apache Kafka</a:t>
            </a:r>
          </a:p>
          <a:p>
            <a:pPr marL="716942" lvl="1" indent="-358471" algn="just">
              <a:lnSpc>
                <a:spcPts val="4648"/>
              </a:lnSpc>
              <a:spcBef>
                <a:spcPct val="0"/>
              </a:spcBef>
              <a:buFont typeface="Arial"/>
              <a:buChar char="•"/>
            </a:pPr>
            <a:r>
              <a:rPr lang="en-US" sz="332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Airflow for scheduled pipeline orchestration</a:t>
            </a:r>
          </a:p>
          <a:p>
            <a:pPr marL="716942" lvl="1" indent="-358471" algn="just">
              <a:lnSpc>
                <a:spcPts val="4648"/>
              </a:lnSpc>
              <a:spcBef>
                <a:spcPct val="0"/>
              </a:spcBef>
              <a:buFont typeface="Arial"/>
              <a:buChar char="•"/>
            </a:pPr>
            <a:r>
              <a:rPr lang="en-US" sz="332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Allowing user input</a:t>
            </a:r>
          </a:p>
          <a:p>
            <a:pPr algn="just">
              <a:lnSpc>
                <a:spcPts val="337"/>
              </a:lnSpc>
              <a:spcBef>
                <a:spcPct val="0"/>
              </a:spcBef>
            </a:pPr>
            <a:endParaRPr lang="en-US" sz="3320" b="1">
              <a:solidFill>
                <a:srgbClr val="545454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5844832" y="1028700"/>
            <a:ext cx="7315200" cy="2872879"/>
          </a:xfrm>
          <a:custGeom>
            <a:avLst/>
            <a:gdLst/>
            <a:ahLst/>
            <a:cxnLst/>
            <a:rect l="l" t="t" r="r" b="b"/>
            <a:pathLst>
              <a:path w="7315200" h="2872879">
                <a:moveTo>
                  <a:pt x="0" y="0"/>
                </a:moveTo>
                <a:lnTo>
                  <a:pt x="7315200" y="0"/>
                </a:lnTo>
                <a:lnTo>
                  <a:pt x="7315200" y="2872879"/>
                </a:lnTo>
                <a:lnTo>
                  <a:pt x="0" y="28728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4631" y="4760687"/>
            <a:ext cx="18455601" cy="358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14"/>
              </a:lnSpc>
            </a:pPr>
            <a:r>
              <a:rPr lang="en-US" sz="2939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GitHub:</a:t>
            </a:r>
          </a:p>
          <a:p>
            <a:pPr marL="634570" lvl="1" indent="-317285" algn="just">
              <a:lnSpc>
                <a:spcPts val="4114"/>
              </a:lnSpc>
              <a:spcBef>
                <a:spcPct val="0"/>
              </a:spcBef>
              <a:buFont typeface="Arial"/>
              <a:buChar char="•"/>
            </a:pPr>
            <a:r>
              <a:rPr lang="en-US" sz="2939" b="1" u="sng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  <a:hlinkClick r:id="rId8" tooltip="https://github.com/PEM-Instruct/final-project-pooja-malakappa-nuchchi"/>
              </a:rPr>
              <a:t>github.com/po</a:t>
            </a:r>
            <a:r>
              <a:rPr lang="en-US" sz="2939" b="1" u="sng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  <a:hlinkClick r:id="rId8" tooltip="https://github.com/PEM-Instruct/final-project-pooja-malakappa-nuchchi"/>
              </a:rPr>
              <a:t>oja-malakappa-nuchchi/corp-card-fraud-pipeline</a:t>
            </a:r>
          </a:p>
          <a:p>
            <a:pPr marL="634570" lvl="1" indent="-317285" algn="just">
              <a:lnSpc>
                <a:spcPts val="4114"/>
              </a:lnSpc>
              <a:spcBef>
                <a:spcPct val="0"/>
              </a:spcBef>
              <a:buFont typeface="Arial"/>
              <a:buChar char="•"/>
            </a:pPr>
            <a:r>
              <a:rPr lang="en-US" sz="2939" b="1" u="sng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https://github.com/pooja-malakappa-nuchchi/corp-card-fraud-pipeline/tree/pooja</a:t>
            </a:r>
          </a:p>
          <a:p>
            <a:pPr algn="just">
              <a:lnSpc>
                <a:spcPts val="4114"/>
              </a:lnSpc>
              <a:spcBef>
                <a:spcPct val="0"/>
              </a:spcBef>
            </a:pPr>
            <a:endParaRPr lang="en-US" sz="2939" b="1" u="sng">
              <a:solidFill>
                <a:srgbClr val="545454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634570" lvl="1" indent="-317285" algn="l">
              <a:lnSpc>
                <a:spcPts val="4114"/>
              </a:lnSpc>
              <a:buFont typeface="Arial"/>
              <a:buChar char="•"/>
            </a:pPr>
            <a:r>
              <a:rPr lang="en-US" sz="2939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Tech Stack: Python, PostgreSQL, FastAPI, React, scikit-learn, XGBoost, LightGBM</a:t>
            </a:r>
          </a:p>
          <a:p>
            <a:pPr marL="634570" lvl="1" indent="-317285" algn="l">
              <a:lnSpc>
                <a:spcPts val="4114"/>
              </a:lnSpc>
              <a:buFont typeface="Arial"/>
              <a:buChar char="•"/>
            </a:pPr>
            <a:r>
              <a:rPr lang="en-US" sz="2939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"Questions? Post in the discussion thread!"</a:t>
            </a:r>
          </a:p>
          <a:p>
            <a:pPr algn="just">
              <a:lnSpc>
                <a:spcPts val="4114"/>
              </a:lnSpc>
              <a:spcBef>
                <a:spcPct val="0"/>
              </a:spcBef>
            </a:pPr>
            <a:endParaRPr lang="en-US" sz="2939" b="1">
              <a:solidFill>
                <a:srgbClr val="545454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295</Words>
  <Application>Microsoft Office PowerPoint</Application>
  <PresentationFormat>Custom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Canva Sans Bold</vt:lpstr>
      <vt:lpstr>Garet</vt:lpstr>
      <vt:lpstr>Alexandria Bold</vt:lpstr>
      <vt:lpstr>Garet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 Sai Ashwin</dc:title>
  <cp:lastModifiedBy>Pooja Malakappa Nuchchi</cp:lastModifiedBy>
  <cp:revision>2</cp:revision>
  <dcterms:created xsi:type="dcterms:W3CDTF">2006-08-16T00:00:00Z</dcterms:created>
  <dcterms:modified xsi:type="dcterms:W3CDTF">2026-04-20T04:42:20Z</dcterms:modified>
  <dc:identifier>DAHC6oLZasM</dc:identifier>
</cp:coreProperties>
</file>